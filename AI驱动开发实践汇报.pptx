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1463040"/>
            <a:ext cx="5120640" cy="5120640"/>
          </a:xfrm>
          <a:prstGeom prst="ellipse">
            <a:avLst/>
          </a:prstGeom>
          <a:noFill/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2560320"/>
            <a:ext cx="2926080" cy="2926080"/>
          </a:xfrm>
          <a:prstGeom prst="ellipse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3886200"/>
            <a:ext cx="274320" cy="2743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8778240" y="822960"/>
            <a:ext cx="2011680" cy="146304"/>
          </a:xfrm>
          <a:prstGeom prst="parallelogram">
            <a:avLst/>
          </a:prstGeom>
          <a:solidFill>
            <a:srgbClr val="2E75B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418320" y="1234440"/>
            <a:ext cx="1463040" cy="109728"/>
          </a:xfrm>
          <a:prstGeom prst="parallelogram">
            <a:avLst/>
          </a:prstGeom>
          <a:solidFill>
            <a:srgbClr val="00B0F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566928" cy="77724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驱动开发实践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FDCF2"/>
                </a:solidFill>
                <a:latin typeface="微软雅黑" panose="020B0503020204020204" charset="-122"/>
                <a:ea typeface="微软雅黑" panose="020B0503020204020204" charset="-122"/>
              </a:rPr>
              <a:t>用 AI 走通无人机云端作业平台全流程开发</a:t>
            </a:r>
            <a:endParaRPr sz="2400" b="0">
              <a:solidFill>
                <a:srgbClr val="BFDC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8CE"/>
                </a:solidFill>
                <a:latin typeface="微软雅黑" panose="020B0503020204020204" charset="-122"/>
                <a:ea typeface="微软雅黑" panose="020B0503020204020204" charset="-122"/>
              </a:rPr>
              <a:t>从一张需求截图，到可运行的 UAVPlatform · 司空 2 深度集成平台</a:t>
            </a:r>
            <a:endParaRPr sz="1400" b="0">
              <a:solidFill>
                <a:srgbClr val="9FB8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3017520" cy="12801"/>
          </a:xfrm>
          <a:prstGeom prst="rect">
            <a:avLst/>
          </a:prstGeom>
          <a:solidFill>
            <a:srgbClr val="3C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8523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8CE"/>
                </a:solidFill>
                <a:latin typeface="微软雅黑" panose="020B0503020204020204" charset="-122"/>
                <a:ea typeface="微软雅黑" panose="020B0503020204020204" charset="-122"/>
              </a:rPr>
              <a:t>汇报人：____________</a:t>
            </a:r>
            <a:endParaRPr sz="1300" b="0">
              <a:solidFill>
                <a:srgbClr val="9FB8C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8CE"/>
                </a:solidFill>
                <a:latin typeface="微软雅黑" panose="020B0503020204020204" charset="-122"/>
                <a:ea typeface="微软雅黑" panose="020B0503020204020204" charset="-122"/>
              </a:rPr>
              <a:t>2026 年 8 月</a:t>
            </a:r>
            <a:endParaRPr sz="1300" b="0">
              <a:solidFill>
                <a:srgbClr val="9FB8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1248" y="1325880"/>
            <a:ext cx="731520" cy="6400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0195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874519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驱动开发的发展历程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2212848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从代码补全到 Agent 全自动化的四个阶段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715768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80720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本平台的 AI 使用过程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0" y="3145535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需求截图 → PRD → 原型 → 设计 → 编码 → 测试全链路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648456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673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739896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当前平台的功能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4078224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单作业空间 · 12 大模块 · 与司空 2 深度集成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4581144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0001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4672583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使用过程中的注意事项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0" y="501091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输入质量、规范前置、小步快跑、人在回路、人员能力新要求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5513832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632704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560527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未来的展望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86000" y="5943600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平台智能化 · 开发流程演进 · 组织能力沉淀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驱动开发的发展历程：四个阶段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01 · 发展历程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914400" y="1883664"/>
            <a:ext cx="10424160" cy="27432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777240" y="12984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~2021</a:t>
            </a:r>
            <a:endParaRPr sz="1250" b="1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>
            <p:custDataLst>
              <p:tags r:id="rId3"/>
            </p:custDataLst>
          </p:nvPr>
        </p:nvSpPr>
        <p:spPr>
          <a:xfrm>
            <a:off x="1883664" y="1764792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4"/>
            </p:custDataLst>
          </p:nvPr>
        </p:nvSpPr>
        <p:spPr>
          <a:xfrm>
            <a:off x="7498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749808" y="2286000"/>
            <a:ext cx="252374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932688" y="254203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代码补全</a:t>
            </a:r>
            <a:endParaRPr sz="16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932688" y="2962656"/>
            <a:ext cx="2194560" cy="177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GitHub Copilot</a:t>
            </a:r>
            <a:endParaRPr sz="105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932688" y="3611880"/>
            <a:ext cx="221284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行级、片段级自动补全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人主导编写，AI 被动提示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上下文：仅当前文件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520440" y="12984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2022-2023</a:t>
            </a:r>
            <a:endParaRPr sz="1250" b="1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>
            <p:custDataLst>
              <p:tags r:id="rId10"/>
            </p:custDataLst>
          </p:nvPr>
        </p:nvSpPr>
        <p:spPr>
          <a:xfrm>
            <a:off x="4626864" y="1764792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1"/>
            </p:custDataLst>
          </p:nvPr>
        </p:nvSpPr>
        <p:spPr>
          <a:xfrm>
            <a:off x="34930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3493008" y="2286000"/>
            <a:ext cx="252374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3675888" y="254203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对话式生成</a:t>
            </a:r>
            <a:endParaRPr sz="16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3675888" y="2962656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ChatGPT / Copilot Chat</a:t>
            </a:r>
            <a:endParaRPr sz="105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3675888" y="3611880"/>
            <a:ext cx="221284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问答生成函数、解释代码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人负责搬运代码进工程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上下文：单轮对话窗口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6263640" y="12984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2023-2024</a:t>
            </a:r>
            <a:endParaRPr sz="1250" b="1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7370063" y="1764792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6236207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19"/>
            </p:custDataLst>
          </p:nvPr>
        </p:nvSpPr>
        <p:spPr>
          <a:xfrm>
            <a:off x="6236207" y="2286000"/>
            <a:ext cx="252374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6419088" y="254203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工程化协作</a:t>
            </a:r>
            <a:endParaRPr sz="16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6419088" y="2962656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Cursor / Qoder 等 AI IDE</a:t>
            </a:r>
            <a:endParaRPr sz="105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6419088" y="3611880"/>
            <a:ext cx="221284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按架构与规范生成整个文件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跨文件理解、批量修改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上下文：整个工程仓库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9006840" y="12984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2024 至今</a:t>
            </a:r>
            <a:endParaRPr sz="1250" b="1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>
            <p:custDataLst>
              <p:tags r:id="rId24"/>
            </p:custDataLst>
          </p:nvPr>
        </p:nvSpPr>
        <p:spPr>
          <a:xfrm>
            <a:off x="10113263" y="1764792"/>
            <a:ext cx="256032" cy="25603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>
            <p:custDataLst>
              <p:tags r:id="rId25"/>
            </p:custDataLst>
          </p:nvPr>
        </p:nvSpPr>
        <p:spPr>
          <a:xfrm>
            <a:off x="89794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>
            <p:custDataLst>
              <p:tags r:id="rId26"/>
            </p:custDataLst>
          </p:nvPr>
        </p:nvSpPr>
        <p:spPr>
          <a:xfrm>
            <a:off x="8979408" y="2286000"/>
            <a:ext cx="2523744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>
            <p:custDataLst>
              <p:tags r:id="rId27"/>
            </p:custDataLst>
          </p:nvPr>
        </p:nvSpPr>
        <p:spPr>
          <a:xfrm>
            <a:off x="9162288" y="254203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Agent 全自动化</a:t>
            </a:r>
            <a:endParaRPr sz="16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28"/>
            </p:custDataLst>
          </p:nvPr>
        </p:nvSpPr>
        <p:spPr>
          <a:xfrm>
            <a:off x="9162288" y="2962656"/>
            <a:ext cx="2194560" cy="177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Claude Code / </a:t>
            </a:r>
            <a:r>
              <a:rPr lang="en-US"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CODE X</a:t>
            </a:r>
            <a:endParaRPr lang="en-US" sz="105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29"/>
            </p:custDataLst>
          </p:nvPr>
        </p:nvSpPr>
        <p:spPr>
          <a:xfrm>
            <a:off x="9162288" y="3611880"/>
            <a:ext cx="221284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目标驱动：规划-编码-运行-修复闭环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可调用终端、检索、浏览器等工具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上下文：工程+知识库+规则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943600"/>
            <a:ext cx="11183112" cy="475488"/>
          </a:xfrm>
          <a:prstGeom prst="roundRect">
            <a:avLst>
              <a:gd name="adj" fmla="val 3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趋势：</a:t>
            </a:r>
            <a:r>
              <a:rPr sz="12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从「补全一行代码」到「交付一个可运行系统」，人的角色由编写者转变为目标的制定者与验收者</a:t>
            </a:r>
            <a:endParaRPr sz="12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四个阶段的能力对比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01 · 发展历程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681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359152"/>
                <a:gridCol w="2359152"/>
                <a:gridCol w="2359152"/>
                <a:gridCol w="2368296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阶段一 · 代码补全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阶段二 · 对话式生成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阶段三 · 工程化协作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阶段四 · Agent 全自动化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交互方式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自动补全、被动提示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自然语言问答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指令式编辑（选中即改）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目标委托、任务编排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上下文范围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当前文件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对话窗口，需人工复制粘贴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整个工程、跨多文件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工程 + 工具 + 知识库 + 规则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单次产出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行、代码片段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函数、代码块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整个文件、功能模块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可运行的功能闭环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人的角色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主编写者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提问者 + 搬运工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架构师 + 审查者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目标制定者 + 验收者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典型工具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TabNine、Copilot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ChatGPT、Copilot Chat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Cursor、Qoder AI IDE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Claude Code、Devin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本次汇报的实践基于阶段三、四：以 AI IDE + Agent 完成「文档 → 代码 → 测试」全流程</a:t>
            </a:r>
            <a:endParaRPr sz="1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全流程流水线：每一步都有明确输入与产物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02 · AI 使用过程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502920" y="1481328"/>
            <a:ext cx="2395728" cy="896112"/>
          </a:xfrm>
          <a:prstGeom prst="homePlat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 需求输入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司空 2 界面截图 + 场景说明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953512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 PRD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产品需求文档 V0.1 → V1.0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5404104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 交互原型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Element Plus 深色高保真原型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7854696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 概要设计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模块划分 + 功能清单 U-ID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10305288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 详细设计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SDD 接口规约 + DDL / ER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5943600" y="2450592"/>
            <a:ext cx="457200" cy="45720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502920" y="3694176"/>
            <a:ext cx="2395728" cy="896112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 编码实现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U-001 → U-091 前后端全量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2953512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 测试设计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计划 / 方案 / 用例 / 冒烟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5404104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 联调排障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代理 / WSL / 司空通道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7854696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 回写校准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 panose="020B0503020204020204" charset="-122"/>
                <a:ea typeface="微软雅黑" panose="020B0503020204020204" charset="-122"/>
              </a:rPr>
              <a:t>PRD 与 SDD 升版 V2.0</a:t>
            </a:r>
            <a:endParaRPr sz="950" b="0">
              <a:solidFill>
                <a:srgbClr val="CF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621792"/>
          </a:xfrm>
          <a:prstGeom prst="roundRect">
            <a:avLst>
              <a:gd name="adj" fmla="val 25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做法：</a:t>
            </a:r>
            <a:r>
              <a:rPr sz="12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文档先行（SDD 先定接口契约再写实现），小步快跑逐功能点推进，实现完成后由 AI 回写校准文档，保证文档与代码始终一致</a:t>
            </a:r>
            <a:endParaRPr sz="12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各环节怎么用：给 AI 什么，AI 产出什么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02 · AI 使用过程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37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4663440"/>
                <a:gridCol w="4828032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环节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给 AI 的输入（关键约束）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的产出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0F2B46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需求梳理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司空平台界面截图 + 单作业空间定位说明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需求文档、PRD（V0.1 → V1.0 定稿）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交互原型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约束：Element Plus + 深色主题 + 单 HTML 文件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可点开浏览的高保真原型页面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系统设计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PRD + 模块划分（12 个分册）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概要设计、详细设计 SDD、ER 图、DDL 全套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编码实现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技术规范：Vue3+Vite+TS+UnoCSS+ElementPlus / Spring Boot 3.3+MyBatis Plus，先做 U-001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U-001~U-091 前后端全量功能实现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测试设计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设计文档与接口契约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测试计划、测试方案、测试用例、冒烟用例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联调排障</a:t>
                      </a:r>
                      <a:endParaRPr sz="1200" b="1">
                        <a:solidFill>
                          <a:srgbClr val="2E75B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报错日志 + 现象描述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根因定位建议、修复方案与验证脚本</a:t>
                      </a:r>
                      <a:endParaRPr sz="1150" b="0">
                        <a:solidFill>
                          <a:srgbClr val="22303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产出全景：一组真实数据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02 · AI 使用过程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91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个功能点全量推进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U-001 ~ U-091，覆盖 P0 / P1 / P2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4048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个后端业务模块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iam / device / map / safety / wayline / mission / media / analytics / fh2 …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1848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40+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24048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篇文档产物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需求、PRD、原型、概要设计、详设 12 分册、ER / DDL、测试文档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650+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8554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行建库 DDL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5239512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另含 10+ 个增量 SQL，随迭代平滑演进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9768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600+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48554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行测试用例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5239512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测试计划 / 测试方案 / 测试用例 / 冒烟用例齐备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9244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3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66760" y="48554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大功能模块落地</a:t>
            </a:r>
            <a:endParaRPr sz="145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5239512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看板 / 地图 / 航线 / 任务 / 媒体 / 设备 / 人员 / 安全区 / 三维重建 …</a:t>
            </a:r>
            <a:endParaRPr sz="10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平台定位与技术架构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03 · 平台功能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36192"/>
            <a:ext cx="1371600" cy="365759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1499616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Web 浏览器 · Vue3 单页应用（深色控制台风格）</a:t>
            </a:r>
            <a:endParaRPr sz="1200" b="1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212848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359152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前端应用层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2322576"/>
            <a:ext cx="589788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Vue3 + Vite + TypeScript + Element Plus + UnoCSS</a:t>
            </a:r>
            <a:endParaRPr sz="1200" b="1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paas.js 组件：航线编辑器 WaylineEditor / 设备管理 / 驾驶舱 / 飞行回放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547872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694176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后端服务层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3657600"/>
            <a:ext cx="589788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Spring Boot 3.3 + MyBatis Plus + JWT 鉴权 · 11 个业务模块</a:t>
            </a:r>
            <a:endParaRPr sz="1200" b="1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FH2 Java SDK 适配：设备 / 航线镜像同步、任务下发、安全区推送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4882896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029200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数据与底座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0" y="4992624"/>
            <a:ext cx="589788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MySQL 8（20+ 业务表）</a:t>
            </a:r>
            <a:endParaRPr sz="1200" b="1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私有化司空 2（PaaS API / MQTT / Terra 三维重建引擎）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49640" y="1389888"/>
            <a:ext cx="3136392" cy="4480560"/>
          </a:xfrm>
          <a:prstGeom prst="roundRect">
            <a:avLst>
              <a:gd name="adj" fmla="val 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664208"/>
            <a:ext cx="2606040" cy="2028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平台定位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本平台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= 统一门户 + 业务编排 + 数据沉淀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司空 2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= 设备控制 · 航线引擎 · 直播回放 · 重建引擎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单一作业空间：</a:t>
            </a:r>
            <a:r>
              <a:rPr sz="1200" b="0">
                <a:solidFill>
                  <a:srgbClr val="BFDCF2"/>
                </a:solidFill>
                <a:latin typeface="微软雅黑" panose="020B0503020204020204" charset="-122"/>
                <a:ea typeface="微软雅黑" panose="020B0503020204020204" charset="-122"/>
              </a:rPr>
              <a:t>不提供多项目创建与切换，所有能力均为平台级能力</a:t>
            </a:r>
            <a:endParaRPr sz="1200" b="0">
              <a:solidFill>
                <a:srgbClr val="BFDC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整套架构按「规范前置 + 文档先行」方式由 AI 生成并走通，前后端与文档保持同一基线</a:t>
            </a:r>
            <a:endParaRPr sz="1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功能地图：12 大模块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03 · 平台功能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61848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数据看板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1305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核心指标 + 中央地图 + 在飞位置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51276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9876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9644" y="161848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地图作业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79876" y="21305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标注、作业区与协同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99632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61848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空域安全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232" y="21305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限飞区 / 作业区推送司空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47988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76588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6356" y="161848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航线库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76588" y="21305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内嵌司空航线编辑器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31012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任务计划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立即 / 定时 / 循环下发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351276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79876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9644" y="331012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驾驶舱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79876" y="38221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直播画面与实时遥测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99632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28232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31012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飞行回放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28232" y="38221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历史航迹与视频重现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047988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76588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6356" y="331012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媒体库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76588" y="38221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照片 / 视频按批次管理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02920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50017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三维重建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1520" y="551383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Terra 建模与模型库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351276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9876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9644" y="50017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设备管理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79876" y="551383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本地 + 司空镜像同步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99632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28232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50017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人员权限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28232" y="551383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角色分级 + JWT 鉴权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047988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76588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6356" y="50017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司空集成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76588" y="551383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设备 / 航线 / 任务 / 安全区通道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核心业务流程：一条链路走完日常作业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03 · 平台功能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502920" y="1554480"/>
            <a:ext cx="2395728" cy="868680"/>
          </a:xfrm>
          <a:prstGeom prst="homePlat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登录平台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953512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人员 / 设备就绪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5404104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标注作业区与限飞区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7854696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航线库创建航线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10305288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任务计划下发司空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5989320" y="2514600"/>
            <a:ext cx="457200" cy="45720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502920" y="3291839"/>
            <a:ext cx="2395728" cy="86868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机场自动执行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2953512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直播 / 遥测观看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5404104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媒体回传资源库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7854696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可选：三维重建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10305288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看板与成果沉淀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11183112" cy="566928"/>
          </a:xfrm>
          <a:prstGeom prst="roundRect">
            <a:avLst>
              <a:gd name="adj" fmla="val 2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验收口径：</a:t>
            </a:r>
            <a:r>
              <a:rPr sz="12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管理员在单一作业空间完成「加人 → 绑设备 → 画区 → 建线 → 建计划 → 看成果」，关键链路在看板可追溯</a:t>
            </a:r>
            <a:endParaRPr sz="12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链路中的设备控制、航线编辑、直播回放均复用司空 2 能力，本平台专注门户、编排与数据沉淀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使用过程中的六条注意事项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04 · 注意事项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0292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>
          <a:xfrm>
            <a:off x="758952" y="16550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289304" y="1655064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输入决定输出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77240" y="225856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截图要完整清晰，目标与边界提前说清；模糊的需求只会得到模糊的实现。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29768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>
            <p:custDataLst>
              <p:tags r:id="rId6"/>
            </p:custDataLst>
          </p:nvPr>
        </p:nvSpPr>
        <p:spPr>
          <a:xfrm>
            <a:off x="4553712" y="16550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084064" y="1655064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规范前置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72000" y="225856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技术栈、目录结构、命名与响应包约定先交给 AI，再开始编码，避免大范围返工。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9244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>
            <p:custDataLst>
              <p:tags r:id="rId10"/>
            </p:custDataLst>
          </p:nvPr>
        </p:nvSpPr>
        <p:spPr>
          <a:xfrm>
            <a:off x="8348472" y="1655064"/>
            <a:ext cx="402336" cy="40233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878824" y="1655064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小步快跑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66760" y="225856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按功能点逐个走通（先 U-001）、每步可验证；一次性大生成容易失控且难排查。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502920" y="3867912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>
            <p:custDataLst>
              <p:tags r:id="rId14"/>
            </p:custDataLst>
          </p:nvPr>
        </p:nvSpPr>
        <p:spPr>
          <a:xfrm>
            <a:off x="758952" y="4105656"/>
            <a:ext cx="402336" cy="40233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289304" y="4191572"/>
            <a:ext cx="265176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决策审核</a:t>
            </a:r>
            <a:endParaRPr lang="zh-CN"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77240" y="470916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架构决策、验收标准、安全相关事项必须人拍板；AI 产出必须 Review 后再合入。</a:t>
            </a:r>
            <a:endParaRPr sz="11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AI 研发对人员能力的要求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04 · 注意事项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11183112" cy="822960"/>
          </a:xfrm>
          <a:prstGeom prst="roundRect">
            <a:avLst>
              <a:gd name="adj" fmla="val 2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角色转变：</a:t>
            </a:r>
            <a:r>
              <a:rPr sz="12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以前约六成精力耗在「搬运代码」（表单、接口对接、状态管理）；现在人聚焦定目标、定规范、验收、决策，能力重心从编码实现转向以下五项</a:t>
            </a:r>
            <a:endParaRPr sz="12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215798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6" y="3218688"/>
            <a:ext cx="17556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描述能力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4005072"/>
            <a:ext cx="17556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把需求、目标、边界与约束讲清楚；「输入决定输出」，会描述就等于会指挥 AI</a:t>
            </a:r>
            <a:endParaRPr sz="10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59202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9202" y="2377440"/>
            <a:ext cx="215798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8658" y="267004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8658" y="3218688"/>
            <a:ext cx="17556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产品思维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78658" y="4005072"/>
            <a:ext cx="17556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判断做什么、不做什么（如「单一作业空间」裁剪）；需求优先级排序 P0/P1/P2；制定体验与验收口径</a:t>
            </a:r>
            <a:endParaRPr sz="10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15483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5483" y="2377440"/>
            <a:ext cx="215798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4940" y="267004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34940" y="3218688"/>
            <a:ext cx="17556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架构思维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34940" y="4005072"/>
            <a:ext cx="17556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模块划分、接口契约、技术选型与部署方式决策；AI 能生成代码，但架构决策必须人来定</a:t>
            </a:r>
            <a:endParaRPr sz="10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71766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1766" y="2377440"/>
            <a:ext cx="215798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1221" y="267004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1221" y="3218688"/>
            <a:ext cx="17556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验收与质量判断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91221" y="4005072"/>
            <a:ext cx="17556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Review AI 产出的能力，识别幻觉与隐藏缺陷，把好审核关卡</a:t>
            </a:r>
            <a:endParaRPr sz="10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528048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8048" y="2377440"/>
            <a:ext cx="2157984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47504" y="2670048"/>
            <a:ext cx="384048" cy="38404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47504" y="3218688"/>
            <a:ext cx="17556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持续学习与工具敏感度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47504" y="4005072"/>
            <a:ext cx="17556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AI 工具形态迭代快（补全 → IDE → Agent），保持学习心态，快速把新工具融入工作流</a:t>
            </a:r>
            <a:endParaRPr sz="105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AI 时代研发核心竞争力：会描述需求、会产品判断、会架构决策、会质量把关，并保持工具敏感度</a:t>
            </a:r>
            <a:endParaRPr sz="125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未来展望：三个方向</a:t>
            </a:r>
            <a:endParaRPr sz="2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PART 05 · 未来展望</a:t>
            </a:r>
            <a:endParaRPr sz="115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UAVPlatform · AI 驱动开发实践汇报</a:t>
            </a:r>
            <a:endParaRPr sz="9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02736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平台智能化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299923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智能搜索、变化检测、超清全景、多模态识别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工作流编排：采集 → 重建 → 分析 → 报告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与机场无人值守运维深度联动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02736" cy="12801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开发流程演进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299923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Agent 常驻全流程：需求 → 设计 → 编码 → 测试 → 部署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MCP 工具直达设备与航线，运维即对话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AI 自动回归测试与缺陷修复（CI/CD 融合）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02736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组织与规范</a:t>
            </a:r>
            <a:endParaRPr sz="17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299923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提示词与技术规范资产化，沉淀项目知识库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人机分工再定义：人定目标与标准，AI 执行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 panose="020B0503020204020204" charset="-122"/>
                <a:ea typeface="微软雅黑" panose="020B0503020204020204" charset="-122"/>
              </a:rPr>
              <a:t>团队 AI 工程能力成为基础设施</a:t>
            </a:r>
            <a:endParaRPr sz="1200" b="0">
              <a:solidFill>
                <a:srgbClr val="2230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让 AI 从「开发工具」演进为「研发流程本身」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566928" cy="6400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1248" y="2221992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全流程已走通</a:t>
            </a:r>
            <a:endParaRPr sz="16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从一张需求截图到可运行平台，AI 覆盖需求、设计、编码、测试全链路，文档完整可追溯。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1248" y="3300984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人机各司其职</a:t>
            </a:r>
            <a:endParaRPr sz="16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6160" y="322783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人负责目标、规范与验收；AI 负责生成、执行与重复劳动，效率与质量同时提升。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" y="4379976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0682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sz="16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6160" y="4306824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沉淀规范与知识库，让 Agent 常驻研发流程，覆盖部署与运维环节。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谢谢观看 · 欢迎交流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3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4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5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6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7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8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9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0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1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2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3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4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5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6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7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8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19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0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1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2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3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4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5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6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7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8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29.xml><?xml version="1.0" encoding="utf-8"?>
<p:tagLst xmlns:p="http://schemas.openxmlformats.org/presentationml/2006/main">
  <p:tag name="KSO_WM_DIAGRAM_VIRTUALLY_FRAME" val="{&quot;height&quot;:347.76,&quot;left&quot;:59.04,&quot;top&quot;:102.24,&quot;width&quot;:846.72}"/>
</p:tagLst>
</file>

<file path=ppt/tags/tag30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1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2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3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4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5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6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7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8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39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0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1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2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3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4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ags/tag45.xml><?xml version="1.0" encoding="utf-8"?>
<p:tagLst xmlns:p="http://schemas.openxmlformats.org/presentationml/2006/main">
  <p:tag name="KSO_WM_DIAGRAM_VIRTUALLY_FRAME" val="{&quot;height&quot;:369.36,&quot;left&quot;:39.6,&quot;top&quot;:111.6,&quot;width&quot;:881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4181</Words>
  <Application>WPS 演示</Application>
  <PresentationFormat>On-screen Show (4:3)</PresentationFormat>
  <Paragraphs>531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孟</cp:lastModifiedBy>
  <cp:revision>7</cp:revision>
  <dcterms:created xsi:type="dcterms:W3CDTF">2013-01-27T09:14:00Z</dcterms:created>
  <dcterms:modified xsi:type="dcterms:W3CDTF">2026-09-03T01:31:29Z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8AD55E6A2C564AB68B0FB69309B6DF3F_12</vt:lpwstr>
  </property>
  <property fmtid="{D5CDD505-2E9C-101B-9397-08002B2CF9AE}" pid="3" name="KSOProductBuildVer">
    <vt:lpwstr>2052-12.1.0.28043</vt:lpwstr>
  </property>
</Properties>
</file>