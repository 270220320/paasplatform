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1463040"/>
            <a:ext cx="5120640" cy="5120640"/>
          </a:xfrm>
          <a:prstGeom prst="ellipse">
            <a:avLst/>
          </a:prstGeom>
          <a:noFill/>
          <a:ln w="1524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2560320"/>
            <a:ext cx="2926080" cy="2926080"/>
          </a:xfrm>
          <a:prstGeom prst="ellipse">
            <a:avLst/>
          </a:prstGeom>
          <a:noFill/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3886200"/>
            <a:ext cx="274320" cy="27432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8778240" y="822960"/>
            <a:ext cx="2011680" cy="146304"/>
          </a:xfrm>
          <a:prstGeom prst="parallelogram">
            <a:avLst/>
          </a:prstGeom>
          <a:solidFill>
            <a:srgbClr val="2E75B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9418320" y="1234440"/>
            <a:ext cx="1463040" cy="109728"/>
          </a:xfrm>
          <a:prstGeom prst="parallelogram">
            <a:avLst/>
          </a:prstGeom>
          <a:solidFill>
            <a:srgbClr val="00B0F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084831"/>
            <a:ext cx="566928" cy="77724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AI 驱动开发实践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FDCF2"/>
                </a:solidFill>
                <a:latin typeface="微软雅黑"/>
                <a:ea typeface="微软雅黑"/>
              </a:rPr>
              <a:t>用 AI 走通无人机云端作业平台全流程开发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8CE"/>
                </a:solidFill>
                <a:latin typeface="微软雅黑"/>
                <a:ea typeface="微软雅黑"/>
              </a:rPr>
              <a:t>从一张需求截图，到可运行的 UAVPlatform · 司空 2 深度集成平台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120640"/>
            <a:ext cx="3017520" cy="12801"/>
          </a:xfrm>
          <a:prstGeom prst="rect">
            <a:avLst/>
          </a:prstGeom>
          <a:solidFill>
            <a:srgbClr val="3C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28523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FB8CE"/>
                </a:solidFill>
                <a:latin typeface="微软雅黑"/>
                <a:ea typeface="微软雅黑"/>
              </a:rPr>
              <a:t>汇报人：____________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8CE"/>
                </a:solidFill>
                <a:latin typeface="微软雅黑"/>
                <a:ea typeface="微软雅黑"/>
              </a:rPr>
              <a:t>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B46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25880"/>
            <a:ext cx="731520" cy="64008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786384"/>
          </a:xfrm>
          <a:prstGeom prst="roundRect">
            <a:avLst>
              <a:gd name="adj" fmla="val 14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01952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5B6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74519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/>
                <a:ea typeface="微软雅黑"/>
              </a:rPr>
              <a:t>AI 驱动开发的发展历程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12848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从代码补全到 Agent 全自动化的四个阶段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15768"/>
            <a:ext cx="10515600" cy="786384"/>
          </a:xfrm>
          <a:prstGeom prst="roundRect">
            <a:avLst>
              <a:gd name="adj" fmla="val 14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34639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5B6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80720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/>
                <a:ea typeface="微软雅黑"/>
              </a:rPr>
              <a:t>本平台的 AI 使用过程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145535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需求截图 → PRD → 原型 → 设计 → 编码 → 测试全链路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48456"/>
            <a:ext cx="10515600" cy="786384"/>
          </a:xfrm>
          <a:prstGeom prst="roundRect">
            <a:avLst>
              <a:gd name="adj" fmla="val 14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67328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5B6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73989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/>
                <a:ea typeface="微软雅黑"/>
              </a:rPr>
              <a:t>当前平台的功能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078224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单作业空间 · 12 大模块 · 与司空 2 深度集成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81144"/>
            <a:ext cx="10515600" cy="786384"/>
          </a:xfrm>
          <a:prstGeom prst="roundRect">
            <a:avLst>
              <a:gd name="adj" fmla="val 14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700016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5B6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672583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/>
                <a:ea typeface="微软雅黑"/>
              </a:rPr>
              <a:t>AI 使用过程中的注意事项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010912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输入质量、规范前置、小步快跑、人在回路、人员能力新要求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513832"/>
            <a:ext cx="10515600" cy="786384"/>
          </a:xfrm>
          <a:prstGeom prst="roundRect">
            <a:avLst>
              <a:gd name="adj" fmla="val 14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632704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5B6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605272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/>
                <a:ea typeface="微软雅黑"/>
              </a:rPr>
              <a:t>未来的展望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943600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平台智能化 · 开发流程演进 · 组织能力沉淀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/>
                <a:ea typeface="微软雅黑"/>
              </a:rPr>
              <a:t>AI 驱动开发的发展历程：四个阶段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PART 01 · 发展历程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/>
                <a:ea typeface="微软雅黑"/>
              </a:rPr>
              <a:t>UAVPlatform · AI 驱动开发实践汇报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83664"/>
            <a:ext cx="10424160" cy="27432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B6B7C"/>
                </a:solidFill>
                <a:latin typeface="微软雅黑"/>
                <a:ea typeface="微软雅黑"/>
              </a:rPr>
              <a:t>~2021</a:t>
            </a:r>
          </a:p>
        </p:txBody>
      </p:sp>
      <p:sp>
        <p:nvSpPr>
          <p:cNvPr id="10" name="Oval 9"/>
          <p:cNvSpPr/>
          <p:nvPr/>
        </p:nvSpPr>
        <p:spPr>
          <a:xfrm>
            <a:off x="1883664" y="1764792"/>
            <a:ext cx="256032" cy="25603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2286000"/>
            <a:ext cx="252374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286000"/>
            <a:ext cx="2523744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542032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2B46"/>
                </a:solidFill>
                <a:latin typeface="微软雅黑"/>
                <a:ea typeface="微软雅黑"/>
              </a:rPr>
              <a:t>代码补全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962656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TabNine / GitHub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611880"/>
            <a:ext cx="221284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行级、片段级自动补全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人主导编写，AI 被动提示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上下文：仅当前文件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29844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B6B7C"/>
                </a:solidFill>
                <a:latin typeface="微软雅黑"/>
                <a:ea typeface="微软雅黑"/>
              </a:rPr>
              <a:t>2022-2023</a:t>
            </a:r>
          </a:p>
        </p:txBody>
      </p:sp>
      <p:sp>
        <p:nvSpPr>
          <p:cNvPr id="17" name="Oval 16"/>
          <p:cNvSpPr/>
          <p:nvPr/>
        </p:nvSpPr>
        <p:spPr>
          <a:xfrm>
            <a:off x="4626864" y="1764792"/>
            <a:ext cx="256032" cy="25603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93008" y="2286000"/>
            <a:ext cx="252374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93008" y="2286000"/>
            <a:ext cx="2523744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8" y="2542032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2B46"/>
                </a:solidFill>
                <a:latin typeface="微软雅黑"/>
                <a:ea typeface="微软雅黑"/>
              </a:rPr>
              <a:t>对话式生成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2962656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ChatGPT / Copilot 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3611880"/>
            <a:ext cx="221284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问答生成函数、解释代码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人负责搬运代码进工程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上下文：单轮对话窗口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29844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B6B7C"/>
                </a:solidFill>
                <a:latin typeface="微软雅黑"/>
                <a:ea typeface="微软雅黑"/>
              </a:rPr>
              <a:t>2023-2024</a:t>
            </a:r>
          </a:p>
        </p:txBody>
      </p:sp>
      <p:sp>
        <p:nvSpPr>
          <p:cNvPr id="24" name="Oval 23"/>
          <p:cNvSpPr/>
          <p:nvPr/>
        </p:nvSpPr>
        <p:spPr>
          <a:xfrm>
            <a:off x="7370063" y="1764792"/>
            <a:ext cx="256032" cy="25603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6207" y="2286000"/>
            <a:ext cx="252374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7" y="2286000"/>
            <a:ext cx="2523744" cy="8229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542032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2B46"/>
                </a:solidFill>
                <a:latin typeface="微软雅黑"/>
                <a:ea typeface="微软雅黑"/>
              </a:rPr>
              <a:t>工程化协作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962656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Cursor / Qoder 等 AI 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611880"/>
            <a:ext cx="221284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ED7D31"/>
                </a:solidFill>
                <a:latin typeface="微软雅黑"/>
                <a:ea typeface="微软雅黑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按架构与规范生成整个文件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ED7D31"/>
                </a:solidFill>
                <a:latin typeface="微软雅黑"/>
                <a:ea typeface="微软雅黑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跨文件理解、批量修改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ED7D31"/>
                </a:solidFill>
                <a:latin typeface="微软雅黑"/>
                <a:ea typeface="微软雅黑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上下文：整个工程仓库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129844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B6B7C"/>
                </a:solidFill>
                <a:latin typeface="微软雅黑"/>
                <a:ea typeface="微软雅黑"/>
              </a:rPr>
              <a:t>2024 至今</a:t>
            </a:r>
          </a:p>
        </p:txBody>
      </p:sp>
      <p:sp>
        <p:nvSpPr>
          <p:cNvPr id="31" name="Oval 30"/>
          <p:cNvSpPr/>
          <p:nvPr/>
        </p:nvSpPr>
        <p:spPr>
          <a:xfrm>
            <a:off x="10113263" y="1764792"/>
            <a:ext cx="256032" cy="25603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79408" y="2286000"/>
            <a:ext cx="252374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79408" y="2286000"/>
            <a:ext cx="2523744" cy="8229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62288" y="2542032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2B46"/>
                </a:solidFill>
                <a:latin typeface="微软雅黑"/>
                <a:ea typeface="微软雅黑"/>
              </a:rPr>
              <a:t>Agent 全自动化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2962656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Claude Code / Devin / 自主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3611880"/>
            <a:ext cx="221284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9E6B"/>
                </a:solidFill>
                <a:latin typeface="微软雅黑"/>
                <a:ea typeface="微软雅黑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目标驱动：规划-编码-运行-修复闭环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9E6B"/>
                </a:solidFill>
                <a:latin typeface="微软雅黑"/>
                <a:ea typeface="微软雅黑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可调用终端、检索、浏览器等工具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E9E6B"/>
                </a:solidFill>
                <a:latin typeface="微软雅黑"/>
                <a:ea typeface="微软雅黑"/>
              </a:rPr>
              <a:t>· </a:t>
            </a: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上下文：工程+知识库+规则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943600"/>
            <a:ext cx="11183112" cy="475488"/>
          </a:xfrm>
          <a:prstGeom prst="roundRect">
            <a:avLst>
              <a:gd name="adj" fmla="val 3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2B46"/>
                </a:solidFill>
                <a:latin typeface="微软雅黑"/>
                <a:ea typeface="微软雅黑"/>
              </a:rPr>
              <a:t>趋势：</a:t>
            </a:r>
            <a:r>
              <a:rPr sz="1250" b="0">
                <a:solidFill>
                  <a:srgbClr val="22303E"/>
                </a:solidFill>
                <a:latin typeface="微软雅黑"/>
                <a:ea typeface="微软雅黑"/>
              </a:rPr>
              <a:t>从「补全一行代码」到「交付一个可运行系统」，人的角色由编写者转变为目标的制定者与验收者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/>
                <a:ea typeface="微软雅黑"/>
              </a:rPr>
              <a:t>四个阶段的能力对比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PART 01 · 发展历程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/>
                <a:ea typeface="微软雅黑"/>
              </a:rPr>
              <a:t>UAVPlatform · AI 驱动开发实践汇报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4681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2359152"/>
                <a:gridCol w="2359152"/>
                <a:gridCol w="2359152"/>
                <a:gridCol w="2368296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对比维度</a:t>
                      </a:r>
                    </a:p>
                  </a:txBody>
                  <a:tcPr anchor="ctr" marL="91440" marR="91440" marT="36576" marB="36576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阶段一 · 代码补全</a:t>
                      </a:r>
                    </a:p>
                  </a:txBody>
                  <a:tcPr anchor="ctr" marL="91440" marR="91440" marT="36576" marB="36576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阶段二 · 对话式生成</a:t>
                      </a:r>
                    </a:p>
                  </a:txBody>
                  <a:tcPr anchor="ctr" marL="91440" marR="91440" marT="36576" marB="36576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阶段三 · 工程化协作</a:t>
                      </a:r>
                    </a:p>
                  </a:txBody>
                  <a:tcPr anchor="ctr" marL="91440" marR="91440" marT="36576" marB="36576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阶段四 · Agent 全自动化</a:t>
                      </a:r>
                    </a:p>
                  </a:txBody>
                  <a:tcPr anchor="ctr" marL="91440" marR="91440" marT="36576" marB="36576">
                    <a:solidFill>
                      <a:srgbClr val="0F2B4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交互方式</a:t>
                      </a:r>
                    </a:p>
                  </a:txBody>
                  <a:tcPr anchor="ctr" marL="91440" marR="91440" marT="36576" marB="36576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自动补全、被动提示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自然语言问答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指令式编辑（选中即改）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目标委托、任务编排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上下文范围</a:t>
                      </a:r>
                    </a:p>
                  </a:txBody>
                  <a:tcPr anchor="ctr" marL="91440" marR="91440" marT="36576" marB="36576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当前文件</a:t>
                      </a:r>
                    </a:p>
                  </a:txBody>
                  <a:tcPr anchor="ctr" marL="91440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对话窗口，需人工复制粘贴</a:t>
                      </a:r>
                    </a:p>
                  </a:txBody>
                  <a:tcPr anchor="ctr" marL="91440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整个工程、跨多文件</a:t>
                      </a:r>
                    </a:p>
                  </a:txBody>
                  <a:tcPr anchor="ctr" marL="91440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工程 + 工具 + 知识库 + 规则</a:t>
                      </a:r>
                    </a:p>
                  </a:txBody>
                  <a:tcPr anchor="ctr" marL="91440" marR="91440" marT="36576" marB="36576">
                    <a:solidFill>
                      <a:srgbClr val="F5F9F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单次产出</a:t>
                      </a:r>
                    </a:p>
                  </a:txBody>
                  <a:tcPr anchor="ctr" marL="91440" marR="91440" marT="36576" marB="36576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行、代码片段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函数、代码块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整个文件、功能模块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可运行的功能闭环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人的角色</a:t>
                      </a:r>
                    </a:p>
                  </a:txBody>
                  <a:tcPr anchor="ctr" marL="91440" marR="91440" marT="36576" marB="36576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主编写者</a:t>
                      </a:r>
                    </a:p>
                  </a:txBody>
                  <a:tcPr anchor="ctr" marL="91440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提问者 + 搬运工</a:t>
                      </a:r>
                    </a:p>
                  </a:txBody>
                  <a:tcPr anchor="ctr" marL="91440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架构师 + 审查者</a:t>
                      </a:r>
                    </a:p>
                  </a:txBody>
                  <a:tcPr anchor="ctr" marL="91440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目标制定者 + 验收者</a:t>
                      </a:r>
                    </a:p>
                  </a:txBody>
                  <a:tcPr anchor="ctr" marL="91440" marR="91440" marT="36576" marB="36576">
                    <a:solidFill>
                      <a:srgbClr val="F5F9F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典型工具</a:t>
                      </a:r>
                    </a:p>
                  </a:txBody>
                  <a:tcPr anchor="ctr" marL="91440" marR="91440" marT="36576" marB="36576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TabNine、Copilot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ChatGPT、Copilot Chat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Cursor、Qoder AI IDE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Claude Code、Devin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本次汇报的实践基于阶段三、四：以 AI IDE + Agent 完成「文档 → 代码 → 测试」全流程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/>
                <a:ea typeface="微软雅黑"/>
              </a:rPr>
              <a:t>全流程流水线：每一步都有明确输入与产物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PART 02 · AI 使用过程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/>
                <a:ea typeface="微软雅黑"/>
              </a:rPr>
              <a:t>UAVPlatform · AI 驱动开发实践汇报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8" name="Pentagon 7"/>
          <p:cNvSpPr/>
          <p:nvPr/>
        </p:nvSpPr>
        <p:spPr>
          <a:xfrm>
            <a:off x="502920" y="1481328"/>
            <a:ext cx="2395728" cy="896112"/>
          </a:xfrm>
          <a:prstGeom prst="homePlat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1 需求输入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/>
                <a:ea typeface="微软雅黑"/>
              </a:rPr>
              <a:t>司空 2 界面截图 + 场景说明</a:t>
            </a:r>
          </a:p>
        </p:txBody>
      </p:sp>
      <p:sp>
        <p:nvSpPr>
          <p:cNvPr id="9" name="Chevron 8"/>
          <p:cNvSpPr/>
          <p:nvPr/>
        </p:nvSpPr>
        <p:spPr>
          <a:xfrm>
            <a:off x="2953512" y="1481328"/>
            <a:ext cx="2395728" cy="896112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2 PRD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/>
                <a:ea typeface="微软雅黑"/>
              </a:rPr>
              <a:t>产品需求文档 V0.1 → V1.0</a:t>
            </a:r>
          </a:p>
        </p:txBody>
      </p:sp>
      <p:sp>
        <p:nvSpPr>
          <p:cNvPr id="10" name="Chevron 9"/>
          <p:cNvSpPr/>
          <p:nvPr/>
        </p:nvSpPr>
        <p:spPr>
          <a:xfrm>
            <a:off x="5404104" y="1481328"/>
            <a:ext cx="2395728" cy="896112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3 交互原型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/>
                <a:ea typeface="微软雅黑"/>
              </a:rPr>
              <a:t>Element Plus 深色高保真原型</a:t>
            </a:r>
          </a:p>
        </p:txBody>
      </p:sp>
      <p:sp>
        <p:nvSpPr>
          <p:cNvPr id="11" name="Chevron 10"/>
          <p:cNvSpPr/>
          <p:nvPr/>
        </p:nvSpPr>
        <p:spPr>
          <a:xfrm>
            <a:off x="7854696" y="1481328"/>
            <a:ext cx="2395728" cy="896112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4 概要设计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/>
                <a:ea typeface="微软雅黑"/>
              </a:rPr>
              <a:t>模块划分 + 功能清单 U-ID</a:t>
            </a:r>
          </a:p>
        </p:txBody>
      </p:sp>
      <p:sp>
        <p:nvSpPr>
          <p:cNvPr id="12" name="Chevron 11"/>
          <p:cNvSpPr/>
          <p:nvPr/>
        </p:nvSpPr>
        <p:spPr>
          <a:xfrm>
            <a:off x="10305288" y="1481328"/>
            <a:ext cx="2395728" cy="896112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5 详细设计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/>
                <a:ea typeface="微软雅黑"/>
              </a:rPr>
              <a:t>SDD 接口规约 + DDL / ER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2450592"/>
            <a:ext cx="457200" cy="45720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entagon 13"/>
          <p:cNvSpPr/>
          <p:nvPr/>
        </p:nvSpPr>
        <p:spPr>
          <a:xfrm>
            <a:off x="502920" y="3694176"/>
            <a:ext cx="2395728" cy="896112"/>
          </a:xfrm>
          <a:prstGeom prst="homePlat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6 编码实现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/>
                <a:ea typeface="微软雅黑"/>
              </a:rPr>
              <a:t>U-001 → U-091 前后端全量</a:t>
            </a:r>
          </a:p>
        </p:txBody>
      </p:sp>
      <p:sp>
        <p:nvSpPr>
          <p:cNvPr id="15" name="Chevron 14"/>
          <p:cNvSpPr/>
          <p:nvPr/>
        </p:nvSpPr>
        <p:spPr>
          <a:xfrm>
            <a:off x="2953512" y="3694176"/>
            <a:ext cx="2395728" cy="896112"/>
          </a:xfrm>
          <a:prstGeom prst="chevron">
            <a:avLst>
              <a:gd name="adj" fmla="val 5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7 测试设计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/>
                <a:ea typeface="微软雅黑"/>
              </a:rPr>
              <a:t>计划 / 方案 / 用例 / 冒烟</a:t>
            </a:r>
          </a:p>
        </p:txBody>
      </p:sp>
      <p:sp>
        <p:nvSpPr>
          <p:cNvPr id="16" name="Chevron 15"/>
          <p:cNvSpPr/>
          <p:nvPr/>
        </p:nvSpPr>
        <p:spPr>
          <a:xfrm>
            <a:off x="5404104" y="3694176"/>
            <a:ext cx="2395728" cy="896112"/>
          </a:xfrm>
          <a:prstGeom prst="chevron">
            <a:avLst>
              <a:gd name="adj" fmla="val 5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8 联调排障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/>
                <a:ea typeface="微软雅黑"/>
              </a:rPr>
              <a:t>代理 / WSL / 司空通道</a:t>
            </a:r>
          </a:p>
        </p:txBody>
      </p:sp>
      <p:sp>
        <p:nvSpPr>
          <p:cNvPr id="17" name="Chevron 16"/>
          <p:cNvSpPr/>
          <p:nvPr/>
        </p:nvSpPr>
        <p:spPr>
          <a:xfrm>
            <a:off x="7854696" y="3694176"/>
            <a:ext cx="2395728" cy="896112"/>
          </a:xfrm>
          <a:prstGeom prst="chevron">
            <a:avLst>
              <a:gd name="adj" fmla="val 5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9 回写校准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FE4F5"/>
                </a:solidFill>
                <a:latin typeface="微软雅黑"/>
                <a:ea typeface="微软雅黑"/>
              </a:rPr>
              <a:t>PRD 与 SDD 升版 V2.0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806440"/>
            <a:ext cx="11183112" cy="621792"/>
          </a:xfrm>
          <a:prstGeom prst="roundRect">
            <a:avLst>
              <a:gd name="adj" fmla="val 25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2B46"/>
                </a:solidFill>
                <a:latin typeface="微软雅黑"/>
                <a:ea typeface="微软雅黑"/>
              </a:rPr>
              <a:t>做法：</a:t>
            </a:r>
            <a:r>
              <a:rPr sz="1250" b="0">
                <a:solidFill>
                  <a:srgbClr val="22303E"/>
                </a:solidFill>
                <a:latin typeface="微软雅黑"/>
                <a:ea typeface="微软雅黑"/>
              </a:rPr>
              <a:t>文档先行（SDD 先定接口契约再写实现），小步快跑逐功能点推进，实现完成后由 AI 回写校准文档，保证文档与代码始终一致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/>
                <a:ea typeface="微软雅黑"/>
              </a:rPr>
              <a:t>各环节怎么用：给 AI 什么，AI 产出什么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PART 02 · AI 使用过程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/>
                <a:ea typeface="微软雅黑"/>
              </a:rPr>
              <a:t>UAVPlatform · AI 驱动开发实践汇报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4837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4663440"/>
                <a:gridCol w="4828032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anchor="ctr" marL="91440" marR="91440" marT="36576" marB="36576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给 AI 的输入（关键约束）</a:t>
                      </a:r>
                    </a:p>
                  </a:txBody>
                  <a:tcPr anchor="ctr" marL="91440" marR="91440" marT="36576" marB="36576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AI 的产出</a:t>
                      </a:r>
                    </a:p>
                  </a:txBody>
                  <a:tcPr anchor="ctr" marL="91440" marR="91440" marT="36576" marB="36576">
                    <a:solidFill>
                      <a:srgbClr val="0F2B46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需求梳理</a:t>
                      </a:r>
                    </a:p>
                  </a:txBody>
                  <a:tcPr anchor="ctr" marL="91440" marR="91440" marT="36576" marB="36576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司空平台界面截图 + 单作业空间定位说明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需求文档、PRD（V0.1 → V1.0 定稿）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交互原型</a:t>
                      </a:r>
                    </a:p>
                  </a:txBody>
                  <a:tcPr anchor="ctr" marL="91440" marR="91440" marT="36576" marB="36576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约束：Element Plus + 深色主题 + 单 HTML 文件</a:t>
                      </a:r>
                    </a:p>
                  </a:txBody>
                  <a:tcPr anchor="ctr" marL="91440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可点开浏览的高保真原型页面</a:t>
                      </a:r>
                    </a:p>
                  </a:txBody>
                  <a:tcPr anchor="ctr" marL="91440" marR="91440" marT="36576" marB="36576">
                    <a:solidFill>
                      <a:srgbClr val="F5F9FD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系统设计</a:t>
                      </a:r>
                    </a:p>
                  </a:txBody>
                  <a:tcPr anchor="ctr" marL="91440" marR="91440" marT="36576" marB="36576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PRD + 模块划分（12 个分册）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概要设计、详细设计 SDD、ER 图、DDL 全套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编码实现</a:t>
                      </a:r>
                    </a:p>
                  </a:txBody>
                  <a:tcPr anchor="ctr" marL="91440" marR="91440" marT="36576" marB="36576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技术规范：Vue3+Vite+TS+UnoCSS+ElementPlus / Spring Boot 3.3+MyBatis Plus，先做 U-001</a:t>
                      </a:r>
                    </a:p>
                  </a:txBody>
                  <a:tcPr anchor="ctr" marL="91440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U-001~U-091 前后端全量功能实现</a:t>
                      </a:r>
                    </a:p>
                  </a:txBody>
                  <a:tcPr anchor="ctr" marL="91440" marR="91440" marT="36576" marB="36576">
                    <a:solidFill>
                      <a:srgbClr val="F5F9FD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测试设计</a:t>
                      </a:r>
                    </a:p>
                  </a:txBody>
                  <a:tcPr anchor="ctr" marL="91440" marR="91440" marT="36576" marB="36576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设计文档与接口契约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测试计划、测试方案、测试用例、冒烟用例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联调排障</a:t>
                      </a:r>
                    </a:p>
                  </a:txBody>
                  <a:tcPr anchor="ctr" marL="91440" marR="91440" marT="36576" marB="36576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报错日志 + 现象描述</a:t>
                      </a:r>
                    </a:p>
                  </a:txBody>
                  <a:tcPr anchor="ctr" marL="91440" marR="91440" marT="36576" marB="36576">
                    <a:solidFill>
                      <a:srgbClr val="F5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303E"/>
                          </a:solidFill>
                          <a:latin typeface="微软雅黑"/>
                          <a:ea typeface="微软雅黑"/>
                        </a:rPr>
                        <a:t>根因定位建议、修复方案与验证脚本</a:t>
                      </a:r>
                    </a:p>
                  </a:txBody>
                  <a:tcPr anchor="ctr" marL="91440" marR="91440" marT="36576" marB="36576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/>
                <a:ea typeface="微软雅黑"/>
              </a:rPr>
              <a:t>四个关键实践：真实过程回顾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PART 02 · AI 使用过程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/>
                <a:ea typeface="微软雅黑"/>
              </a:rPr>
              <a:t>UAVPlatform · AI 驱动开发实践汇报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89888"/>
            <a:ext cx="546811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89888"/>
            <a:ext cx="82296" cy="2286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1664208"/>
            <a:ext cx="420624" cy="42062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64208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2B46"/>
                </a:solidFill>
                <a:latin typeface="微软雅黑"/>
                <a:ea typeface="微软雅黑"/>
              </a:rPr>
              <a:t>需求即截图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258568"/>
            <a:ext cx="48920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以司空 2 界面截图直接作为需求源，AI 识别界面布局与公开能力，梳理成结构化 PRD；产品裁剪原则（不做多项目）一并写入。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89888"/>
            <a:ext cx="546811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89888"/>
            <a:ext cx="82296" cy="2286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10528" y="1664208"/>
            <a:ext cx="420624" cy="42062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664208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2B46"/>
                </a:solidFill>
                <a:latin typeface="微软雅黑"/>
                <a:ea typeface="微软雅黑"/>
              </a:rPr>
              <a:t>原型有约束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258568"/>
            <a:ext cx="48920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明确「Element Plus + 深色主题 + 单 HTML 文件」三点约束，AI 一次产出可交互的高保真原型，直接用于评审与对齐。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04487"/>
            <a:ext cx="546811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904487"/>
            <a:ext cx="82296" cy="2286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5528" y="4178807"/>
            <a:ext cx="420624" cy="42062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78807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2B46"/>
                </a:solidFill>
                <a:latin typeface="微软雅黑"/>
                <a:ea typeface="微软雅黑"/>
              </a:rPr>
              <a:t>编码前定规范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4773168"/>
            <a:ext cx="48920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技术栈一次说清：前端 Vue3+Vite+TS+UnoCSS+Element Plus，后端 MyBatis Plus；并约定从 U-001 开始逐个功能点推进，先跑通再铺开。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04487"/>
            <a:ext cx="546811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904487"/>
            <a:ext cx="82296" cy="22860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10528" y="4178807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178807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2B46"/>
                </a:solidFill>
                <a:latin typeface="微软雅黑"/>
                <a:ea typeface="微软雅黑"/>
              </a:rPr>
              <a:t>问题与解法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4773168"/>
            <a:ext cx="48920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303E"/>
                </a:solidFill>
                <a:latin typeface="微软雅黑"/>
                <a:ea typeface="微软雅黑"/>
              </a:rPr>
              <a:t>司空 FH2 SDK 的 jar 仅支持 Linux / macOS —— AI 给出方案对比后，安装 WSL 运行后端打通全链路；开发环节是主要耗时环节，其余环节 AI 直接通过。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/>
                <a:ea typeface="微软雅黑"/>
              </a:rPr>
              <a:t>AI 产出全景：一组真实数据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PART 02 · AI 使用过程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/>
                <a:ea typeface="微软雅黑"/>
              </a:rPr>
              <a:t>UAVPlatform · AI 驱动开发实践汇报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02736" cy="2212848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18488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75B6"/>
                </a:solidFill>
                <a:latin typeface="微软雅黑"/>
                <a:ea typeface="微软雅黑"/>
              </a:rPr>
              <a:t>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0487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B46"/>
                </a:solidFill>
                <a:latin typeface="微软雅黑"/>
                <a:ea typeface="微软雅黑"/>
              </a:rPr>
              <a:t>个功能点全量推进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3090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U-001 ~ U-091，覆盖 P0 / P1 / P2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602736" cy="2212848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18488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75B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0487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B46"/>
                </a:solidFill>
                <a:latin typeface="微软雅黑"/>
                <a:ea typeface="微软雅黑"/>
              </a:rPr>
              <a:t>个后端业务模块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88920"/>
            <a:ext cx="3090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iam / device / map / safety / wayline / mission / media / analytics / fh2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602736" cy="2212848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18488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75B6"/>
                </a:solidFill>
                <a:latin typeface="微软雅黑"/>
                <a:ea typeface="微软雅黑"/>
              </a:rPr>
              <a:t>40+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0487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B46"/>
                </a:solidFill>
                <a:latin typeface="微软雅黑"/>
                <a:ea typeface="微软雅黑"/>
              </a:rPr>
              <a:t>篇文档产物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3090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需求、PRD、原型、概要设计、详设 12 分册、ER / DDL、测试文档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67912"/>
            <a:ext cx="3602736" cy="2212848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75B6"/>
                </a:solidFill>
                <a:latin typeface="微软雅黑"/>
                <a:ea typeface="微软雅黑"/>
              </a:rPr>
              <a:t>650+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554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B46"/>
                </a:solidFill>
                <a:latin typeface="微软雅黑"/>
                <a:ea typeface="微软雅黑"/>
              </a:rPr>
              <a:t>行建库 DDL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39512"/>
            <a:ext cx="3090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另含 10+ 个增量 SQL，随迭代平滑演进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867912"/>
            <a:ext cx="3602736" cy="2212848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06908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75B6"/>
                </a:solidFill>
                <a:latin typeface="微软雅黑"/>
                <a:ea typeface="微软雅黑"/>
              </a:rPr>
              <a:t>600+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8554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B46"/>
                </a:solidFill>
                <a:latin typeface="微软雅黑"/>
                <a:ea typeface="微软雅黑"/>
              </a:rPr>
              <a:t>行测试用例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239512"/>
            <a:ext cx="3090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测试计划 / 测试方案 / 测试用例 / 冒烟用例齐备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867912"/>
            <a:ext cx="3602736" cy="2212848"/>
          </a:xfrm>
          <a:prstGeom prst="roundRect">
            <a:avLst>
              <a:gd name="adj" fmla="val 6000"/>
            </a:avLst>
          </a:prstGeom>
          <a:solidFill>
            <a:srgbClr val="F5F9FD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06908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75B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554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B46"/>
                </a:solidFill>
                <a:latin typeface="微软雅黑"/>
                <a:ea typeface="微软雅黑"/>
              </a:rPr>
              <a:t>大功能模块落地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5239512"/>
            <a:ext cx="3090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微软雅黑"/>
                <a:ea typeface="微软雅黑"/>
              </a:rPr>
              <a:t>看板 / 地图 / 航线 / 任务 / 媒体 / 设备 / 人员 / 安全区 / 三维重建 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/>
                <a:ea typeface="微软雅黑"/>
              </a:rPr>
              <a:t>平台定位与技术架构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PART 03 · 平台功能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/>
                <a:ea typeface="微软雅黑"/>
              </a:rPr>
              <a:t>UAVPlatform · AI 驱动开发实践汇报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89888"/>
            <a:ext cx="78181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36192"/>
            <a:ext cx="1371600" cy="365759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用户层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499616"/>
            <a:ext cx="5897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03E"/>
                </a:solidFill>
                <a:latin typeface="微软雅黑"/>
                <a:ea typeface="微软雅黑"/>
              </a:rPr>
              <a:t>Web 浏览器 · Vue3 单页应用（深色控制台风格）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12848"/>
            <a:ext cx="781812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359152"/>
            <a:ext cx="1371600" cy="877824"/>
          </a:xfrm>
          <a:prstGeom prst="roundRect">
            <a:avLst>
              <a:gd name="adj" fmla="val 1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前端应用层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322576"/>
            <a:ext cx="589788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03E"/>
                </a:solidFill>
                <a:latin typeface="微软雅黑"/>
                <a:ea typeface="微软雅黑"/>
              </a:rPr>
              <a:t>Vue3 + Vite + TypeScript + Element Plus + UnoCSS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/>
                <a:ea typeface="微软雅黑"/>
              </a:rPr>
              <a:t>paas.js 组件：航线编辑器 WaylineEditor / 设备管理 / 驾驶舱 / 飞行回放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47872"/>
            <a:ext cx="781812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694176"/>
            <a:ext cx="1371600" cy="87782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后端服务层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657600"/>
            <a:ext cx="589788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03E"/>
                </a:solidFill>
                <a:latin typeface="微软雅黑"/>
                <a:ea typeface="微软雅黑"/>
              </a:rPr>
              <a:t>Spring Boot 3.3 + MyBatis Plus + JWT 鉴权 · 11 个业务模块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/>
                <a:ea typeface="微软雅黑"/>
              </a:rPr>
              <a:t>FH2 Java SDK 适配：设备 / 航线镜像同步、任务下发、安全区推送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82896"/>
            <a:ext cx="781812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5029200"/>
            <a:ext cx="1371600" cy="877824"/>
          </a:xfrm>
          <a:prstGeom prst="roundRect">
            <a:avLst>
              <a:gd name="adj" fmla="val 1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数据与底座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992624"/>
            <a:ext cx="589788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03E"/>
                </a:solidFill>
                <a:latin typeface="微软雅黑"/>
                <a:ea typeface="微软雅黑"/>
              </a:rPr>
              <a:t>MySQL 8（20+ 业务表）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/>
                <a:ea typeface="微软雅黑"/>
              </a:rPr>
              <a:t>私有化司空 2（PaaS API / MQTT / Terra 三维重建引擎）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389888"/>
            <a:ext cx="3136392" cy="4480560"/>
          </a:xfrm>
          <a:prstGeom prst="roundRect">
            <a:avLst>
              <a:gd name="adj" fmla="val 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664208"/>
            <a:ext cx="2606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平台定位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0B0F0"/>
                </a:solidFill>
                <a:latin typeface="微软雅黑"/>
                <a:ea typeface="微软雅黑"/>
              </a:rPr>
              <a:t>本平台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 = 统一门户 + 业务编排 + 数据沉淀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>
                <a:solidFill>
                  <a:srgbClr val="00B0F0"/>
                </a:solidFill>
                <a:latin typeface="微软雅黑"/>
                <a:ea typeface="微软雅黑"/>
              </a:rPr>
              <a:t>司空 2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 = 设备控制 · 航线引擎 · 直播回放 · 重建引擎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单一作业空间心智：</a:t>
            </a:r>
            <a:r>
              <a:rPr sz="1200" b="0">
                <a:solidFill>
                  <a:srgbClr val="BFDCF2"/>
                </a:solidFill>
                <a:latin typeface="微软雅黑"/>
                <a:ea typeface="微软雅黑"/>
              </a:rPr>
              <a:t>不提供多项目创建与切换，所有能力均为平台级能力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0350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整套架构按「规范前置 + 文档先行」方式由 AI 生成并走通，前后端与文档保持同一基线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/>
                <a:ea typeface="微软雅黑"/>
              </a:rPr>
              <a:t>功能地图：12 大模块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PART 03 · 平台功能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/>
                <a:ea typeface="微软雅黑"/>
              </a:rPr>
              <a:t>UAVPlatform · AI 驱动开发实践汇报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550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161848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数据看板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3055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核心指标 + 中央地图 + 在飞位置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1276" y="14173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79876" y="16550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9644" y="161848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地图作业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9876" y="213055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标注、作业区与协同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4173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2" y="16550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61848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空域安全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13055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限飞区 / 作业区推送司空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7988" y="14173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76588" y="16550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06356" y="161848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航线库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6588" y="213055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内嵌司空航线编辑器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10896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334670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331012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任务计划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82219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立即 / 定时 / 循环下发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1276" y="310896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79876" y="334670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9644" y="331012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驾驶舱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9876" y="382219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直播画面与实时遥测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10896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28232" y="334670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331012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飞行回放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382219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历史航迹与视频重现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47988" y="310896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76588" y="334670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06356" y="331012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媒体库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6588" y="382219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照片 / 视频按批次管理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80060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503834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1288" y="500176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三维重建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51383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Terra 建模与模型库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51276" y="480060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79876" y="503834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09644" y="500176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设备管理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79876" y="551383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本地 + 司空镜像同步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9632" y="480060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428232" y="503834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500176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人员权限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28232" y="551383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角色分级 + JWT 鉴权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47988" y="480060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276588" y="503834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06356" y="5001768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司空集成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76588" y="551383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设备 / 航线 / 任务 / 安全区通道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/>
                <a:ea typeface="微软雅黑"/>
              </a:rPr>
              <a:t>核心业务流程：一条链路走完日常作业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PART 03 · 平台功能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/>
                <a:ea typeface="微软雅黑"/>
              </a:rPr>
              <a:t>UAVPlatform · AI 驱动开发实践汇报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8" name="Pentagon 7"/>
          <p:cNvSpPr/>
          <p:nvPr/>
        </p:nvSpPr>
        <p:spPr>
          <a:xfrm>
            <a:off x="502920" y="1554480"/>
            <a:ext cx="2395728" cy="868680"/>
          </a:xfrm>
          <a:prstGeom prst="homePlat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登录平台</a:t>
            </a:r>
          </a:p>
        </p:txBody>
      </p:sp>
      <p:sp>
        <p:nvSpPr>
          <p:cNvPr id="9" name="Chevron 8"/>
          <p:cNvSpPr/>
          <p:nvPr/>
        </p:nvSpPr>
        <p:spPr>
          <a:xfrm>
            <a:off x="2953512" y="1554480"/>
            <a:ext cx="2395728" cy="868680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人员 / 设备就绪</a:t>
            </a:r>
          </a:p>
        </p:txBody>
      </p:sp>
      <p:sp>
        <p:nvSpPr>
          <p:cNvPr id="10" name="Chevron 9"/>
          <p:cNvSpPr/>
          <p:nvPr/>
        </p:nvSpPr>
        <p:spPr>
          <a:xfrm>
            <a:off x="5404104" y="1554480"/>
            <a:ext cx="2395728" cy="868680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标注作业区与限飞区</a:t>
            </a:r>
          </a:p>
        </p:txBody>
      </p:sp>
      <p:sp>
        <p:nvSpPr>
          <p:cNvPr id="11" name="Chevron 10"/>
          <p:cNvSpPr/>
          <p:nvPr/>
        </p:nvSpPr>
        <p:spPr>
          <a:xfrm>
            <a:off x="7854696" y="1554480"/>
            <a:ext cx="2395728" cy="868680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航线库创建航线</a:t>
            </a:r>
          </a:p>
        </p:txBody>
      </p:sp>
      <p:sp>
        <p:nvSpPr>
          <p:cNvPr id="12" name="Chevron 11"/>
          <p:cNvSpPr/>
          <p:nvPr/>
        </p:nvSpPr>
        <p:spPr>
          <a:xfrm>
            <a:off x="10305288" y="1554480"/>
            <a:ext cx="2395728" cy="868680"/>
          </a:xfrm>
          <a:prstGeom prst="chevron">
            <a:avLst>
              <a:gd name="adj" fmla="val 55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任务计划下发司空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9320" y="2514600"/>
            <a:ext cx="457200" cy="45720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entagon 13"/>
          <p:cNvSpPr/>
          <p:nvPr/>
        </p:nvSpPr>
        <p:spPr>
          <a:xfrm>
            <a:off x="502920" y="3291839"/>
            <a:ext cx="2395728" cy="868680"/>
          </a:xfrm>
          <a:prstGeom prst="homePlat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机场自动执行</a:t>
            </a:r>
          </a:p>
        </p:txBody>
      </p:sp>
      <p:sp>
        <p:nvSpPr>
          <p:cNvPr id="15" name="Chevron 14"/>
          <p:cNvSpPr/>
          <p:nvPr/>
        </p:nvSpPr>
        <p:spPr>
          <a:xfrm>
            <a:off x="2953512" y="3291839"/>
            <a:ext cx="2395728" cy="868680"/>
          </a:xfrm>
          <a:prstGeom prst="chevron">
            <a:avLst>
              <a:gd name="adj" fmla="val 5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直播 / 遥测观看</a:t>
            </a:r>
          </a:p>
        </p:txBody>
      </p:sp>
      <p:sp>
        <p:nvSpPr>
          <p:cNvPr id="16" name="Chevron 15"/>
          <p:cNvSpPr/>
          <p:nvPr/>
        </p:nvSpPr>
        <p:spPr>
          <a:xfrm>
            <a:off x="5404104" y="3291839"/>
            <a:ext cx="2395728" cy="868680"/>
          </a:xfrm>
          <a:prstGeom prst="chevron">
            <a:avLst>
              <a:gd name="adj" fmla="val 5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媒体回传资源库</a:t>
            </a:r>
          </a:p>
        </p:txBody>
      </p:sp>
      <p:sp>
        <p:nvSpPr>
          <p:cNvPr id="17" name="Chevron 16"/>
          <p:cNvSpPr/>
          <p:nvPr/>
        </p:nvSpPr>
        <p:spPr>
          <a:xfrm>
            <a:off x="7854696" y="3291839"/>
            <a:ext cx="2395728" cy="868680"/>
          </a:xfrm>
          <a:prstGeom prst="chevron">
            <a:avLst>
              <a:gd name="adj" fmla="val 5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可选：三维重建</a:t>
            </a:r>
          </a:p>
        </p:txBody>
      </p:sp>
      <p:sp>
        <p:nvSpPr>
          <p:cNvPr id="18" name="Chevron 17"/>
          <p:cNvSpPr/>
          <p:nvPr/>
        </p:nvSpPr>
        <p:spPr>
          <a:xfrm>
            <a:off x="10305288" y="3291839"/>
            <a:ext cx="2395728" cy="868680"/>
          </a:xfrm>
          <a:prstGeom prst="chevron">
            <a:avLst>
              <a:gd name="adj" fmla="val 5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看板与成果沉淀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49240"/>
            <a:ext cx="11183112" cy="566928"/>
          </a:xfrm>
          <a:prstGeom prst="roundRect">
            <a:avLst>
              <a:gd name="adj" fmla="val 2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2B46"/>
                </a:solidFill>
                <a:latin typeface="微软雅黑"/>
                <a:ea typeface="微软雅黑"/>
              </a:rPr>
              <a:t>验收口径：</a:t>
            </a:r>
            <a:r>
              <a:rPr sz="1250" b="0">
                <a:solidFill>
                  <a:srgbClr val="22303E"/>
                </a:solidFill>
                <a:latin typeface="微软雅黑"/>
                <a:ea typeface="微软雅黑"/>
              </a:rPr>
              <a:t>管理员在单一作业空间完成「加人 → 绑设备 → 画区 → 建线 → 建计划 → 看成果」，关键链路在看板可追溯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08076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链路中的设备控制、航线编辑、直播回放均复用司空 2 能力，本平台专注门户、编排与数据沉淀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/>
                <a:ea typeface="微软雅黑"/>
              </a:rPr>
              <a:t>AI 使用过程中的六条注意事项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PART 04 · 注意事项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/>
                <a:ea typeface="微软雅黑"/>
              </a:rPr>
              <a:t>UAVPlatform · AI 驱动开发实践汇报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027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952" y="1655064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655064"/>
            <a:ext cx="26517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B46"/>
                </a:solidFill>
                <a:latin typeface="微软雅黑"/>
                <a:ea typeface="微软雅黑"/>
              </a:rPr>
              <a:t>输入决定输出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58568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截图要完整清晰，目标与边界提前说清；模糊的需求只会得到模糊的实现。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6027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55064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1655064"/>
            <a:ext cx="26517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B46"/>
                </a:solidFill>
                <a:latin typeface="微软雅黑"/>
                <a:ea typeface="微软雅黑"/>
              </a:rPr>
              <a:t>规范前置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58568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技术栈、目录结构、命名与响应包约定先交给 AI，再开始编码，避免大范围返工。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6027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8472" y="1655064"/>
            <a:ext cx="402336" cy="40233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655064"/>
            <a:ext cx="26517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B46"/>
                </a:solidFill>
                <a:latin typeface="微软雅黑"/>
                <a:ea typeface="微软雅黑"/>
              </a:rPr>
              <a:t>小步快跑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58568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按功能点逐个走通（先 U-001）、每步可验证；一次性大生成容易失控且难排查。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67912"/>
            <a:ext cx="36027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8952" y="4105656"/>
            <a:ext cx="402336" cy="40233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" y="4105656"/>
            <a:ext cx="26517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B46"/>
                </a:solidFill>
                <a:latin typeface="微软雅黑"/>
                <a:ea typeface="微软雅黑"/>
              </a:rPr>
              <a:t>人在回路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架构决策、验收标准、安全相关事项必须人拍板；AI 产出必须 Review 后再合入。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867912"/>
            <a:ext cx="36027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53712" y="4105656"/>
            <a:ext cx="402336" cy="40233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4064" y="4105656"/>
            <a:ext cx="26517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B46"/>
                </a:solidFill>
                <a:latin typeface="微软雅黑"/>
                <a:ea typeface="微软雅黑"/>
              </a:rPr>
              <a:t>环境问题人决策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70916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SDK 平台兼容、网络与密钥等工程问题，AI 只能给方案，拍板与操作在人（如 WSL 方案）。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867912"/>
            <a:ext cx="36027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48472" y="4105656"/>
            <a:ext cx="402336" cy="40233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05656"/>
            <a:ext cx="26517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B46"/>
                </a:solidFill>
                <a:latin typeface="微软雅黑"/>
                <a:ea typeface="微软雅黑"/>
              </a:rPr>
              <a:t>文档即基线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70916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2303E"/>
                </a:solidFill>
                <a:latin typeface="微软雅黑"/>
                <a:ea typeface="微软雅黑"/>
              </a:rPr>
              <a:t>以文档驱动开发，实现后回写校准（V1.0 → V2.0），防止文档与代码「两张皮」。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/>
                <a:ea typeface="微软雅黑"/>
              </a:rPr>
              <a:t>AI 研发对人员能力的要求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PART 04 · 注意事项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/>
                <a:ea typeface="微软雅黑"/>
              </a:rPr>
              <a:t>UAVPlatform · AI 驱动开发实践汇报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11183112" cy="822960"/>
          </a:xfrm>
          <a:prstGeom prst="roundRect">
            <a:avLst>
              <a:gd name="adj" fmla="val 22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B46"/>
                </a:solidFill>
                <a:latin typeface="微软雅黑"/>
                <a:ea typeface="微软雅黑"/>
              </a:rPr>
              <a:t>角色转变：</a:t>
            </a:r>
            <a:r>
              <a:rPr sz="1250" b="0">
                <a:solidFill>
                  <a:srgbClr val="22303E"/>
                </a:solidFill>
                <a:latin typeface="微软雅黑"/>
                <a:ea typeface="微软雅黑"/>
              </a:rPr>
              <a:t>以前约六成精力耗在「搬运代码」（表单、接口对接、状态管理）；现在人聚焦定目标、定规范、验收、决策，能力重心从编码实现转向以下五项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77440"/>
            <a:ext cx="2157984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2157984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218688"/>
            <a:ext cx="17556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描述能力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4005072"/>
            <a:ext cx="175564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03E"/>
                </a:solidFill>
                <a:latin typeface="微软雅黑"/>
                <a:ea typeface="微软雅黑"/>
              </a:rPr>
              <a:t>把需求、目标、边界与约束讲清楚；「输入决定输出」，会描述就等于会指挥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59202" y="2377440"/>
            <a:ext cx="2157984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59202" y="2377440"/>
            <a:ext cx="2157984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8658" y="2670048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8658" y="3218688"/>
            <a:ext cx="17556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产品思维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8658" y="4005072"/>
            <a:ext cx="175564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03E"/>
                </a:solidFill>
                <a:latin typeface="微软雅黑"/>
                <a:ea typeface="微软雅黑"/>
              </a:rPr>
              <a:t>判断做什么、不做什么（如「单一作业空间」裁剪）；需求优先级排序 P0/P1/P2；制定体验与验收口径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5483" y="2377440"/>
            <a:ext cx="2157984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15483" y="2377440"/>
            <a:ext cx="2157984" cy="8229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34940" y="2670048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4940" y="3218688"/>
            <a:ext cx="17556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架构思维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4940" y="4005072"/>
            <a:ext cx="175564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03E"/>
                </a:solidFill>
                <a:latin typeface="微软雅黑"/>
                <a:ea typeface="微软雅黑"/>
              </a:rPr>
              <a:t>模块划分、接口契约、技术选型与部署方式决策；AI 能生成代码，但架构决策必须人来定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1766" y="2377440"/>
            <a:ext cx="2157984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71766" y="2377440"/>
            <a:ext cx="2157984" cy="8229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1221" y="2670048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1221" y="3218688"/>
            <a:ext cx="17556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验收与质量判断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1221" y="4005072"/>
            <a:ext cx="175564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03E"/>
                </a:solidFill>
                <a:latin typeface="微软雅黑"/>
                <a:ea typeface="微软雅黑"/>
              </a:rPr>
              <a:t>Review AI 产出的能力，识别幻觉与隐藏缺陷，把好审核关卡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28048" y="2377440"/>
            <a:ext cx="2157984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28048" y="2377440"/>
            <a:ext cx="2157984" cy="8229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47504" y="2670048"/>
            <a:ext cx="384048" cy="384048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7504" y="3218688"/>
            <a:ext cx="17556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B46"/>
                </a:solidFill>
                <a:latin typeface="微软雅黑"/>
                <a:ea typeface="微软雅黑"/>
              </a:rPr>
              <a:t>持续学习与工具敏感度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4005072"/>
            <a:ext cx="175564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03E"/>
                </a:solidFill>
                <a:latin typeface="微软雅黑"/>
                <a:ea typeface="微软雅黑"/>
              </a:rPr>
              <a:t>AI 工具形态迭代快（补全 → IDE → Agent），保持学习心态，快速把新工具融入工作流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75B6"/>
                </a:solidFill>
                <a:latin typeface="微软雅黑"/>
                <a:ea typeface="微软雅黑"/>
              </a:rPr>
              <a:t>AI 时代研发核心竞争力：会描述需求、会产品判断、会架构决策、会质量把关，并保持工具敏感度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914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B46"/>
                </a:solidFill>
                <a:latin typeface="微软雅黑"/>
                <a:ea typeface="微软雅黑"/>
              </a:rPr>
              <a:t>未来展望：三个方向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微软雅黑"/>
                <a:ea typeface="微软雅黑"/>
              </a:rPr>
              <a:t>PART 05 · 未来展望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6459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C"/>
                </a:solidFill>
                <a:latin typeface="微软雅黑"/>
                <a:ea typeface="微软雅黑"/>
              </a:rPr>
              <a:t>UAVPlatform · AI 驱动开发实践汇报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02736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602736" cy="1280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/>
                <a:ea typeface="微软雅黑"/>
              </a:rPr>
              <a:t>平台智能化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299923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智能搜索、变化检测、超清全景、多模态识别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工作流编排：采集 → 重建 → 分析 → 报告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与机场无人值守运维深度联动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602736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02736" cy="12801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830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/>
                <a:ea typeface="微软雅黑"/>
              </a:rPr>
              <a:t>开发流程演进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14600"/>
            <a:ext cx="299923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ED7D31"/>
                </a:solidFill>
                <a:latin typeface="微软雅黑"/>
                <a:ea typeface="微软雅黑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Agent 常驻全流程：需求 → 设计 → 编码 → 测试 → 部署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ED7D31"/>
                </a:solidFill>
                <a:latin typeface="微软雅黑"/>
                <a:ea typeface="微软雅黑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MCP 工具直达设备与航线，运维即对话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ED7D31"/>
                </a:solidFill>
                <a:latin typeface="微软雅黑"/>
                <a:ea typeface="微软雅黑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AI 自动回归测试与缺陷修复（CI/CD 融合）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602736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3602736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830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B46"/>
                </a:solidFill>
                <a:latin typeface="微软雅黑"/>
                <a:ea typeface="微软雅黑"/>
              </a:rPr>
              <a:t>组织与规范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14600"/>
            <a:ext cx="299923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2E9E6B"/>
                </a:solidFill>
                <a:latin typeface="微软雅黑"/>
                <a:ea typeface="微软雅黑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提示词与技术规范资产化，沉淀项目知识库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2E9E6B"/>
                </a:solidFill>
                <a:latin typeface="微软雅黑"/>
                <a:ea typeface="微软雅黑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人机分工再定义：人定目标与标准，AI 执行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>
                <a:solidFill>
                  <a:srgbClr val="2E9E6B"/>
                </a:solidFill>
                <a:latin typeface="微软雅黑"/>
                <a:ea typeface="微软雅黑"/>
              </a:rPr>
              <a:t>· </a:t>
            </a:r>
            <a:r>
              <a:rPr sz="1200" b="0">
                <a:solidFill>
                  <a:srgbClr val="22303E"/>
                </a:solidFill>
                <a:latin typeface="微软雅黑"/>
                <a:ea typeface="微软雅黑"/>
              </a:rPr>
              <a:t>团队 AI 工程能力成为基础设施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12648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</a:rPr>
              <a:t>让 AI 从「开发工具」演进为「研发流程本身」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566928" cy="64008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221992"/>
            <a:ext cx="54864" cy="713232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B0F0"/>
                </a:solidFill>
                <a:latin typeface="微软雅黑"/>
                <a:ea typeface="微软雅黑"/>
              </a:rPr>
              <a:t>全流程已走通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微软雅黑"/>
                <a:ea typeface="微软雅黑"/>
              </a:rPr>
              <a:t>从一张需求截图到可运行平台，AI 覆盖需求、设计、编码、测试全链路，文档完整可追溯。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300984"/>
            <a:ext cx="54864" cy="713232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2783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B0F0"/>
                </a:solidFill>
                <a:latin typeface="微软雅黑"/>
                <a:ea typeface="微软雅黑"/>
              </a:rPr>
              <a:t>人机各司其职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27832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微软雅黑"/>
                <a:ea typeface="微软雅黑"/>
              </a:rPr>
              <a:t>人负责目标、规范与验收；AI 负责生成、执行与重复劳动，效率与质量同时提升。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79976"/>
            <a:ext cx="54864" cy="713232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30682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B0F0"/>
                </a:solidFill>
                <a:latin typeface="微软雅黑"/>
                <a:ea typeface="微软雅黑"/>
              </a:rPr>
              <a:t>下一步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306824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微软雅黑"/>
                <a:ea typeface="微软雅黑"/>
              </a:rPr>
              <a:t>沉淀规范与知识库，让 Agent 常驻研发流程，覆盖部署与运维环节。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谢谢观看 · 欢迎交流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